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</p:sldIdLst>
  <p:sldSz cx="10693400" cy="7561263"/>
  <p:notesSz cx="6888163" cy="10020300"/>
  <p:defaultTextStyle>
    <a:defPPr>
      <a:defRPr lang="ru-RU"/>
    </a:defPPr>
    <a:lvl1pPr marL="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C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2" d="100"/>
          <a:sy n="82" d="100"/>
        </p:scale>
        <p:origin x="-816" y="-18"/>
      </p:cViewPr>
      <p:guideLst>
        <p:guide orient="horz" pos="2382"/>
        <p:guide pos="33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4263459"/>
            <a:ext cx="10693400" cy="3297804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0693400" cy="4263459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924296"/>
            <a:ext cx="10693400" cy="2520421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764295"/>
            <a:ext cx="10693400" cy="562894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3521" y="5570666"/>
            <a:ext cx="6592170" cy="972577"/>
          </a:xfr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chemeClr val="tx2"/>
                </a:solidFill>
              </a:defRPr>
            </a:lvl1pPr>
            <a:lvl2pPr marL="5215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430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645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861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07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291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506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1722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6116" y="3453495"/>
            <a:ext cx="8391174" cy="1977050"/>
          </a:xfrm>
          <a:effectLst/>
        </p:spPr>
        <p:txBody>
          <a:bodyPr>
            <a:noAutofit/>
          </a:bodyPr>
          <a:lstStyle>
            <a:lvl1pPr marL="730139" indent="-521528" algn="l">
              <a:defRPr sz="6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336675" y="806535"/>
            <a:ext cx="7485380" cy="383104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263459"/>
            <a:ext cx="10693400" cy="3297804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693400" cy="4263459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924296"/>
            <a:ext cx="10693400" cy="2520421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764295"/>
            <a:ext cx="10693400" cy="562894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7709" y="2395445"/>
            <a:ext cx="6977684" cy="2671851"/>
          </a:xfrm>
          <a:effectLst/>
        </p:spPr>
        <p:txBody>
          <a:bodyPr anchor="b"/>
          <a:lstStyle>
            <a:lvl1pPr algn="r">
              <a:defRPr sz="5200" b="1" cap="none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65129" y="5079995"/>
            <a:ext cx="6982161" cy="921133"/>
          </a:xfrm>
        </p:spPr>
        <p:txBody>
          <a:bodyPr anchor="t"/>
          <a:lstStyle>
            <a:lvl1pPr marL="0" indent="0" algn="r">
              <a:buNone/>
              <a:defRPr sz="2300">
                <a:solidFill>
                  <a:schemeClr val="tx2"/>
                </a:solidFill>
              </a:defRPr>
            </a:lvl1pPr>
            <a:lvl2pPr marL="52152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4305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645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861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076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291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5069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7222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29.11.2021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336674" y="806534"/>
            <a:ext cx="3913784" cy="383104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5432247" y="806535"/>
            <a:ext cx="3913784" cy="383104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6675" y="806535"/>
            <a:ext cx="3913784" cy="705367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7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521528" indent="0">
              <a:buNone/>
              <a:defRPr sz="2300" b="1"/>
            </a:lvl2pPr>
            <a:lvl3pPr marL="1043056" indent="0">
              <a:buNone/>
              <a:defRPr sz="2100" b="1"/>
            </a:lvl3pPr>
            <a:lvl4pPr marL="1564584" indent="0">
              <a:buNone/>
              <a:defRPr sz="1800" b="1"/>
            </a:lvl4pPr>
            <a:lvl5pPr marL="2086112" indent="0">
              <a:buNone/>
              <a:defRPr sz="1800" b="1"/>
            </a:lvl5pPr>
            <a:lvl6pPr marL="2607640" indent="0">
              <a:buNone/>
              <a:defRPr sz="1800" b="1"/>
            </a:lvl6pPr>
            <a:lvl7pPr marL="3129168" indent="0">
              <a:buNone/>
              <a:defRPr sz="1800" b="1"/>
            </a:lvl7pPr>
            <a:lvl8pPr marL="3650696" indent="0">
              <a:buNone/>
              <a:defRPr sz="1800" b="1"/>
            </a:lvl8pPr>
            <a:lvl9pPr marL="4172224" indent="0">
              <a:buNone/>
              <a:defRPr sz="18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52401" y="1543926"/>
            <a:ext cx="3913784" cy="3024505"/>
          </a:xfrm>
        </p:spPr>
        <p:txBody>
          <a:bodyPr>
            <a:normAutofit/>
          </a:bodyPr>
          <a:lstStyle>
            <a:lvl1pPr>
              <a:defRPr sz="2100"/>
            </a:lvl1pPr>
            <a:lvl2pPr>
              <a:defRPr sz="21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762" y="806535"/>
            <a:ext cx="3913784" cy="705367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7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521528" indent="0">
              <a:buNone/>
              <a:defRPr sz="2300" b="1"/>
            </a:lvl2pPr>
            <a:lvl3pPr marL="1043056" indent="0">
              <a:buNone/>
              <a:defRPr sz="2100" b="1"/>
            </a:lvl3pPr>
            <a:lvl4pPr marL="1564584" indent="0">
              <a:buNone/>
              <a:defRPr sz="1800" b="1"/>
            </a:lvl4pPr>
            <a:lvl5pPr marL="2086112" indent="0">
              <a:buNone/>
              <a:defRPr sz="1800" b="1"/>
            </a:lvl5pPr>
            <a:lvl6pPr marL="2607640" indent="0">
              <a:buNone/>
              <a:defRPr sz="1800" b="1"/>
            </a:lvl6pPr>
            <a:lvl7pPr marL="3129168" indent="0">
              <a:buNone/>
              <a:defRPr sz="1800" b="1"/>
            </a:lvl7pPr>
            <a:lvl8pPr marL="3650696" indent="0">
              <a:buNone/>
              <a:defRPr sz="1800" b="1"/>
            </a:lvl8pPr>
            <a:lvl9pPr marL="4172224" indent="0">
              <a:buNone/>
              <a:defRPr sz="1800" b="1"/>
            </a:lvl9pPr>
          </a:lstStyle>
          <a:p>
            <a:pPr marL="0" lvl="0" indent="0" algn="ctr" defTabSz="1043056" rtl="0" eaLnBrk="1" latinLnBrk="0" hangingPunct="1">
              <a:spcBef>
                <a:spcPct val="20000"/>
              </a:spcBef>
              <a:spcAft>
                <a:spcPts val="342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2099" y="1542498"/>
            <a:ext cx="3913784" cy="3024505"/>
          </a:xfrm>
        </p:spPr>
        <p:txBody>
          <a:bodyPr>
            <a:normAutofit/>
          </a:bodyPr>
          <a:lstStyle>
            <a:lvl1pPr>
              <a:defRPr sz="2100"/>
            </a:lvl1pPr>
            <a:lvl2pPr>
              <a:defRPr sz="21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29.11.2021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29.11.2021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29.11.2021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1276" y="2436407"/>
            <a:ext cx="4252199" cy="1387547"/>
          </a:xfrm>
          <a:effectLst/>
        </p:spPr>
        <p:txBody>
          <a:bodyPr anchor="b">
            <a:noAutofit/>
          </a:bodyPr>
          <a:lstStyle>
            <a:lvl1pPr marL="260764" indent="-260764" algn="l">
              <a:defRPr sz="3200" b="1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1861" y="806535"/>
            <a:ext cx="4697758" cy="5396667"/>
          </a:xfrm>
        </p:spPr>
        <p:txBody>
          <a:bodyPr anchor="ctr"/>
          <a:lstStyle>
            <a:lvl1pPr>
              <a:defRPr sz="25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6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8047" y="3856489"/>
            <a:ext cx="3962850" cy="2358918"/>
          </a:xfrm>
        </p:spPr>
        <p:txBody>
          <a:bodyPr/>
          <a:lstStyle>
            <a:lvl1pPr marL="0" indent="0">
              <a:buNone/>
              <a:defRPr sz="1600"/>
            </a:lvl1pPr>
            <a:lvl2pPr marL="521528" indent="0">
              <a:buNone/>
              <a:defRPr sz="1400"/>
            </a:lvl2pPr>
            <a:lvl3pPr marL="1043056" indent="0">
              <a:buNone/>
              <a:defRPr sz="1100"/>
            </a:lvl3pPr>
            <a:lvl4pPr marL="1564584" indent="0">
              <a:buNone/>
              <a:defRPr sz="1000"/>
            </a:lvl4pPr>
            <a:lvl5pPr marL="2086112" indent="0">
              <a:buNone/>
              <a:defRPr sz="1000"/>
            </a:lvl5pPr>
            <a:lvl6pPr marL="2607640" indent="0">
              <a:buNone/>
              <a:defRPr sz="1000"/>
            </a:lvl6pPr>
            <a:lvl7pPr marL="3129168" indent="0">
              <a:buNone/>
              <a:defRPr sz="1000"/>
            </a:lvl7pPr>
            <a:lvl8pPr marL="3650696" indent="0">
              <a:buNone/>
              <a:defRPr sz="1000"/>
            </a:lvl8pPr>
            <a:lvl9pPr marL="4172224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29.11.2021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263459"/>
            <a:ext cx="10693400" cy="3297804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0693400" cy="4263459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924296"/>
            <a:ext cx="10693400" cy="2520421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764295"/>
            <a:ext cx="10693400" cy="562894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33469" y="1260211"/>
            <a:ext cx="4812030" cy="3448551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300"/>
            </a:lvl1pPr>
            <a:lvl2pPr marL="521528" indent="0">
              <a:buNone/>
              <a:defRPr sz="3200"/>
            </a:lvl2pPr>
            <a:lvl3pPr marL="1043056" indent="0">
              <a:buNone/>
              <a:defRPr sz="2700"/>
            </a:lvl3pPr>
            <a:lvl4pPr marL="1564584" indent="0">
              <a:buNone/>
              <a:defRPr sz="2300"/>
            </a:lvl4pPr>
            <a:lvl5pPr marL="2086112" indent="0">
              <a:buNone/>
              <a:defRPr sz="2300"/>
            </a:lvl5pPr>
            <a:lvl6pPr marL="2607640" indent="0">
              <a:buNone/>
              <a:defRPr sz="2300"/>
            </a:lvl6pPr>
            <a:lvl7pPr marL="3129168" indent="0">
              <a:buNone/>
              <a:defRPr sz="2300"/>
            </a:lvl7pPr>
            <a:lvl8pPr marL="3650696" indent="0">
              <a:buNone/>
              <a:defRPr sz="2300"/>
            </a:lvl8pPr>
            <a:lvl9pPr marL="4172224" indent="0">
              <a:buNone/>
              <a:defRPr sz="23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6640" y="1114108"/>
            <a:ext cx="4320061" cy="2384830"/>
          </a:xfrm>
        </p:spPr>
        <p:txBody>
          <a:bodyPr anchor="b"/>
          <a:lstStyle>
            <a:lvl1pPr marL="208611" indent="-208611">
              <a:buFont typeface="Georgia" pitchFamily="18" charset="0"/>
              <a:buChar char="*"/>
              <a:defRPr sz="1800"/>
            </a:lvl1pPr>
            <a:lvl2pPr marL="521528" indent="0">
              <a:buNone/>
              <a:defRPr sz="1400"/>
            </a:lvl2pPr>
            <a:lvl3pPr marL="1043056" indent="0">
              <a:buNone/>
              <a:defRPr sz="1100"/>
            </a:lvl3pPr>
            <a:lvl4pPr marL="1564584" indent="0">
              <a:buNone/>
              <a:defRPr sz="1000"/>
            </a:lvl4pPr>
            <a:lvl5pPr marL="2086112" indent="0">
              <a:buNone/>
              <a:defRPr sz="1000"/>
            </a:lvl5pPr>
            <a:lvl6pPr marL="2607640" indent="0">
              <a:buNone/>
              <a:defRPr sz="1000"/>
            </a:lvl6pPr>
            <a:lvl7pPr marL="3129168" indent="0">
              <a:buNone/>
              <a:defRPr sz="1000"/>
            </a:lvl7pPr>
            <a:lvl8pPr marL="3650696" indent="0">
              <a:buNone/>
              <a:defRPr sz="1000"/>
            </a:lvl8pPr>
            <a:lvl9pPr marL="4172224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29.11.2021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500" y="4922231"/>
            <a:ext cx="7465193" cy="1260211"/>
          </a:xfrm>
        </p:spPr>
        <p:txBody>
          <a:bodyPr anchor="b">
            <a:noAutofit/>
          </a:bodyPr>
          <a:lstStyle>
            <a:lvl1pPr algn="l">
              <a:defRPr sz="5200" b="1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792" y="806534"/>
            <a:ext cx="7485380" cy="383104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49256" y="415128"/>
            <a:ext cx="2406015" cy="5775512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87366" y="806534"/>
            <a:ext cx="5647583" cy="5396666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628940"/>
            <a:ext cx="10693400" cy="1932323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693400" cy="562894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4154730"/>
            <a:ext cx="10693400" cy="2520421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764295"/>
            <a:ext cx="10693400" cy="562894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97152" y="4820518"/>
            <a:ext cx="7616020" cy="1260211"/>
          </a:xfrm>
          <a:prstGeom prst="rect">
            <a:avLst/>
          </a:prstGeom>
          <a:effectLst/>
        </p:spPr>
        <p:txBody>
          <a:bodyPr vert="horz" lIns="104306" tIns="52153" rIns="104306" bIns="52153" rtlCol="0" anchor="t" anchorCtr="0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6675" y="807351"/>
            <a:ext cx="7485380" cy="3831040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18045" y="6805137"/>
            <a:ext cx="294068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>
              <a:defRPr sz="13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29.11.2021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669" y="6805137"/>
            <a:ext cx="39209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>
              <a:defRPr sz="13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55583" y="6805137"/>
            <a:ext cx="2138680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iming>
    <p:tnLst>
      <p:par>
        <p:cTn id="1" dur="indefinite" restart="never" nodeType="tmRoot"/>
      </p:par>
    </p:tnLst>
  </p:timing>
  <p:txStyles>
    <p:titleStyle>
      <a:lvl1pPr marL="365070" indent="-365070" algn="r" defTabSz="1043056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52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60764" indent="-208611" algn="l" defTabSz="1043056" rtl="0" eaLnBrk="1" latinLnBrk="0" hangingPunct="1">
        <a:spcBef>
          <a:spcPct val="20000"/>
        </a:spcBef>
        <a:spcAft>
          <a:spcPts val="342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25834" indent="-208611" algn="l" defTabSz="1043056" rtl="0" eaLnBrk="1" latinLnBrk="0" hangingPunct="1">
        <a:spcBef>
          <a:spcPct val="20000"/>
        </a:spcBef>
        <a:spcAft>
          <a:spcPts val="342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38750" indent="-208611" algn="l" defTabSz="1043056" rtl="0" eaLnBrk="1" latinLnBrk="0" hangingPunct="1">
        <a:spcBef>
          <a:spcPct val="20000"/>
        </a:spcBef>
        <a:spcAft>
          <a:spcPts val="342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51667" indent="-208611" algn="l" defTabSz="1043056" rtl="0" eaLnBrk="1" latinLnBrk="0" hangingPunct="1">
        <a:spcBef>
          <a:spcPct val="20000"/>
        </a:spcBef>
        <a:spcAft>
          <a:spcPts val="342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85445" indent="-208611" algn="l" defTabSz="1043056" rtl="0" eaLnBrk="1" latinLnBrk="0" hangingPunct="1">
        <a:spcBef>
          <a:spcPct val="20000"/>
        </a:spcBef>
        <a:spcAft>
          <a:spcPts val="342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98362" indent="-208611" algn="l" defTabSz="1043056" rtl="0" eaLnBrk="1" latinLnBrk="0" hangingPunct="1">
        <a:spcBef>
          <a:spcPct val="20000"/>
        </a:spcBef>
        <a:spcAft>
          <a:spcPts val="342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42571" indent="-208611" algn="l" defTabSz="1043056" rtl="0" eaLnBrk="1" latinLnBrk="0" hangingPunct="1">
        <a:spcBef>
          <a:spcPct val="20000"/>
        </a:spcBef>
        <a:spcAft>
          <a:spcPts val="342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607640" indent="-208611" algn="l" defTabSz="1043056" rtl="0" eaLnBrk="1" latinLnBrk="0" hangingPunct="1">
        <a:spcBef>
          <a:spcPct val="20000"/>
        </a:spcBef>
        <a:spcAft>
          <a:spcPts val="342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51849" indent="-208611" algn="l" defTabSz="1043056" rtl="0" eaLnBrk="1" latinLnBrk="0" hangingPunct="1">
        <a:spcBef>
          <a:spcPct val="20000"/>
        </a:spcBef>
        <a:spcAft>
          <a:spcPts val="342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528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3056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584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6112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640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9168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696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2224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36215"/>
            <a:ext cx="10693400" cy="1080120"/>
          </a:xfrm>
        </p:spPr>
        <p:txBody>
          <a:bodyPr>
            <a:normAutofit fontScale="90000"/>
          </a:bodyPr>
          <a:lstStyle/>
          <a:p>
            <a:pPr marL="208611" indent="0" algn="ctr">
              <a:buNone/>
            </a:pPr>
            <a:r>
              <a:rPr lang="en-US" sz="5900" b="1" dirty="0" smtClean="0">
                <a:solidFill>
                  <a:srgbClr val="0070C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  <a:reflection blurRad="6350" stA="55000" endA="300" endPos="45500" dir="5400000" sy="-100000" algn="bl" rotWithShape="0"/>
                </a:effectLst>
                <a:latin typeface="AcademyUzbek" pitchFamily="2" charset="0"/>
              </a:rPr>
              <a:t>OOO “EURO LUX STROY”</a:t>
            </a:r>
            <a:endParaRPr lang="ru-RU" sz="5900" b="1" dirty="0">
              <a:solidFill>
                <a:srgbClr val="0070C0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  <a:reflection blurRad="6350" stA="55000" endA="300" endPos="45500" dir="5400000" sy="-100000" algn="bl" rotWithShape="0"/>
              </a:effectLst>
              <a:latin typeface="AcademyUzbek" pitchFamily="2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404367"/>
            <a:ext cx="10693400" cy="1080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000" dirty="0" err="1" smtClean="0">
                <a:solidFill>
                  <a:schemeClr val="tx1"/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Узбекистанский</a:t>
            </a:r>
            <a:r>
              <a:rPr lang="ru-RU" sz="3000" dirty="0" smtClean="0">
                <a:solidFill>
                  <a:schemeClr val="tx1"/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 Производитель </a:t>
            </a:r>
          </a:p>
          <a:p>
            <a:pPr algn="ctr"/>
            <a:r>
              <a:rPr lang="ru-RU" sz="3000" dirty="0" smtClean="0">
                <a:solidFill>
                  <a:schemeClr val="tx1"/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Чистых Технологии</a:t>
            </a:r>
            <a:endParaRPr lang="ru-RU" sz="3000" dirty="0">
              <a:solidFill>
                <a:schemeClr val="tx1"/>
              </a:solidFill>
              <a:effectLst>
                <a:reflection blurRad="6350" stA="55000" endA="300" endPos="455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2628503"/>
            <a:ext cx="10693400" cy="2952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500" b="1" dirty="0" smtClean="0">
                <a:solidFill>
                  <a:srgbClr val="0070C0"/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АВТОНОМНАЯ СИСТЕМА ДЕЗИНФЕКЦИИ</a:t>
            </a:r>
          </a:p>
          <a:p>
            <a:pPr algn="ctr"/>
            <a:r>
              <a:rPr lang="ru-RU" sz="2200" dirty="0" smtClean="0">
                <a:solidFill>
                  <a:srgbClr val="0070C0"/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БЕЗУПРЕЧНОСТЬ/ТЕХНОЛОГИЧНОСТЬ/БЕЗОПАСТНОСТЬ</a:t>
            </a:r>
            <a:endParaRPr lang="ru-RU" sz="2200" dirty="0">
              <a:solidFill>
                <a:srgbClr val="0070C0"/>
              </a:solidFill>
              <a:effectLst>
                <a:reflection blurRad="6350" stA="55000" endA="300" endPos="455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308772" y="5868863"/>
            <a:ext cx="3888432" cy="1404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>
                <a:solidFill>
                  <a:schemeClr val="accent5">
                    <a:lumMod val="5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Ooo</a:t>
            </a:r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 “Euro Lux </a:t>
            </a:r>
            <a:r>
              <a:rPr lang="en-US" b="1" dirty="0" err="1" smtClean="0">
                <a:solidFill>
                  <a:schemeClr val="accent5">
                    <a:lumMod val="5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Stroy</a:t>
            </a:r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”</a:t>
            </a:r>
          </a:p>
          <a:p>
            <a:pPr algn="ctr"/>
            <a:r>
              <a:rPr lang="ru-RU" b="1" dirty="0" smtClean="0">
                <a:solidFill>
                  <a:schemeClr val="accent5">
                    <a:lumMod val="5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Узбекистан, г. Самарканд</a:t>
            </a:r>
          </a:p>
          <a:p>
            <a:pPr algn="ctr"/>
            <a:r>
              <a:rPr lang="ru-RU" b="1" dirty="0" err="1" smtClean="0">
                <a:solidFill>
                  <a:schemeClr val="accent5">
                    <a:lumMod val="5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Ул.Чимкент</a:t>
            </a:r>
            <a:r>
              <a:rPr lang="ru-RU" b="1" dirty="0" smtClean="0">
                <a:solidFill>
                  <a:schemeClr val="accent5">
                    <a:lumMod val="5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, 19</a:t>
            </a:r>
          </a:p>
          <a:p>
            <a:pPr algn="ctr"/>
            <a:r>
              <a:rPr lang="ru-RU" b="1" dirty="0" smtClean="0">
                <a:solidFill>
                  <a:schemeClr val="accent5">
                    <a:lumMod val="5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Тел: +998 90 199 99 </a:t>
            </a:r>
            <a:r>
              <a:rPr lang="ru-RU" b="1" dirty="0" smtClean="0">
                <a:solidFill>
                  <a:schemeClr val="accent5">
                    <a:lumMod val="5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00</a:t>
            </a:r>
          </a:p>
          <a:p>
            <a:pPr algn="ctr"/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euroluxstroy.uz</a:t>
            </a:r>
            <a:endParaRPr lang="ru-RU" b="1" dirty="0">
              <a:solidFill>
                <a:schemeClr val="accent5">
                  <a:lumMod val="50000"/>
                </a:schemeClr>
              </a:solidFill>
              <a:effectLst>
                <a:reflection blurRad="6350" stA="55000" endA="300" endPos="455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557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7693577" y="4968763"/>
            <a:ext cx="2909707" cy="756084"/>
          </a:xfrm>
          <a:prstGeom prst="rect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5616260" y="4968763"/>
            <a:ext cx="2106704" cy="756084"/>
          </a:xfrm>
          <a:prstGeom prst="rect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2916901" y="4968567"/>
            <a:ext cx="2717831" cy="756084"/>
          </a:xfrm>
          <a:prstGeom prst="rect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27843" y="4968567"/>
            <a:ext cx="2442593" cy="756280"/>
          </a:xfrm>
          <a:prstGeom prst="rect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22553" y="2101"/>
            <a:ext cx="10670847" cy="970218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7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5500" dirty="0" smtClean="0">
                <a:solidFill>
                  <a:srgbClr val="0070C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  <a:reflection blurRad="6350" stA="55000" endA="300" endPos="45500" dir="5400000" sy="-100000" algn="bl" rotWithShape="0"/>
                </a:effectLst>
                <a:latin typeface="AcademyUzbek" pitchFamily="2" charset="0"/>
              </a:rPr>
              <a:t>OOO “EURO LUX STROY”</a:t>
            </a:r>
            <a:endParaRPr lang="ru-RU" sz="5500" dirty="0">
              <a:solidFill>
                <a:srgbClr val="0070C0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  <a:reflection blurRad="6350" stA="55000" endA="300" endPos="45500" dir="5400000" sy="-100000" algn="bl" rotWithShape="0"/>
              </a:effectLst>
              <a:latin typeface="AcademyUzbek" pitchFamily="2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83828" y="1260351"/>
            <a:ext cx="10320848" cy="1224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Установка комплекса ООО </a:t>
            </a:r>
            <a:r>
              <a:rPr lang="en-US" b="1" dirty="0" smtClean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“Euro Lux </a:t>
            </a:r>
            <a:r>
              <a:rPr lang="en-US" b="1" dirty="0" err="1" smtClean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Stroy</a:t>
            </a:r>
            <a:r>
              <a:rPr lang="en-US" b="1" dirty="0" smtClean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ru-RU" b="1" dirty="0" smtClean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в образовательные и другие учреждения Дезинфекция КАБИНЕТОВ, ОФИСОВ, КОВОРКИНГОВ И КОНФЕРЕНЦ - ЗАЛОВ</a:t>
            </a:r>
            <a:endParaRPr lang="ru-RU" dirty="0"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22164" y="5121887"/>
            <a:ext cx="2304256" cy="5309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   В </a:t>
            </a:r>
            <a:r>
              <a:rPr lang="ru-RU" sz="1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автоматическом </a:t>
            </a:r>
            <a:r>
              <a:rPr lang="ru-RU" sz="1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режиме</a:t>
            </a:r>
            <a:endParaRPr lang="ru-RU" sz="1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5706740" y="5163634"/>
            <a:ext cx="2376264" cy="3451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От 60 минут</a:t>
            </a:r>
            <a:endParaRPr lang="ru-RU" sz="1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3258468" y="5106756"/>
            <a:ext cx="2520280" cy="4589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Без участия персонала</a:t>
            </a:r>
            <a:endParaRPr lang="ru-RU" sz="1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7866980" y="5148783"/>
            <a:ext cx="2736304" cy="4320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Экологично</a:t>
            </a:r>
            <a:r>
              <a:rPr lang="ru-RU" sz="1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1400" b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гипоаллергенно</a:t>
            </a:r>
            <a:endParaRPr lang="ru-RU" sz="1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31" name="Picture 7" descr="C:\Users\Vip\Desktop\Islombek documents\Noyabr\Презентация\17 (копия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533" y="5121889"/>
            <a:ext cx="564703" cy="458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:\Users\Vip\Desktop\Islombek documents\Noyabr\Презентация\1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2445" y="5157893"/>
            <a:ext cx="504055" cy="422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C:\Users\Vip\Desktop\Islombek documents\Noyabr\Презентация\13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6740" y="5121888"/>
            <a:ext cx="504056" cy="458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:\Users\Vip\Desktop\Islombek documents\Noyabr\Презентация\14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6386" y="5163634"/>
            <a:ext cx="446658" cy="429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Vip\Desktop\Islombek documents\Noyabr\26\Yalta-Mokko-2_1500x1061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924" y="2484767"/>
            <a:ext cx="3053723" cy="216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Vip\Desktop\Islombek documents\Noyabr\26\1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4532" y="2484487"/>
            <a:ext cx="3240000" cy="216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Vip\Desktop\Islombek documents\Noyabr\26\44f366ae0694b07db1dc957ac41fc24e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506" y="2484487"/>
            <a:ext cx="3053689" cy="216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9963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C:\Users\Vip\Desktop\Islombek documents\Noyabr\Презентация\download (копия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410" y="2916535"/>
            <a:ext cx="857994" cy="857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1"/>
          <p:cNvSpPr txBox="1">
            <a:spLocks/>
          </p:cNvSpPr>
          <p:nvPr/>
        </p:nvSpPr>
        <p:spPr>
          <a:xfrm>
            <a:off x="22553" y="2101"/>
            <a:ext cx="10670847" cy="970218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7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5500" dirty="0" smtClean="0">
                <a:solidFill>
                  <a:srgbClr val="0070C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  <a:reflection blurRad="6350" stA="55000" endA="300" endPos="45500" dir="5400000" sy="-100000" algn="bl" rotWithShape="0"/>
                </a:effectLst>
                <a:latin typeface="AcademyUzbek" pitchFamily="2" charset="0"/>
              </a:rPr>
              <a:t>OOO “EURO LUX STROY”</a:t>
            </a:r>
            <a:endParaRPr lang="ru-RU" sz="5500" dirty="0">
              <a:solidFill>
                <a:srgbClr val="0070C0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  <a:reflection blurRad="6350" stA="55000" endA="300" endPos="45500" dir="5400000" sy="-100000" algn="bl" rotWithShape="0"/>
              </a:effectLst>
              <a:latin typeface="AcademyUzbek" pitchFamily="2" charset="0"/>
            </a:endParaRPr>
          </a:p>
        </p:txBody>
      </p:sp>
      <p:pic>
        <p:nvPicPr>
          <p:cNvPr id="2051" name="Picture 3" descr="C:\Users\Vip\Desktop\Islombek documents\Noyabr\Презентация\6 (копия)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3455" y="3636615"/>
            <a:ext cx="5173525" cy="3093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1386260" y="2556495"/>
            <a:ext cx="8136904" cy="6480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ЛОКАЛЬНОЕ ПОДКЛЮЧЕНИЕ В ОБЩУЮ СЕТЬ ОЗОНГЕНЕРАТОРОВ (Встраиваемых или настенных)</a:t>
            </a:r>
            <a:endParaRPr lang="ru-RU" sz="18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546772" y="1044327"/>
            <a:ext cx="6192688" cy="6480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КОМПЛЕКС ООО</a:t>
            </a:r>
            <a:r>
              <a:rPr lang="en-US" sz="25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“EURO LUX STROY”</a:t>
            </a:r>
            <a:endParaRPr lang="ru-RU" sz="25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4" descr="C:\Users\Vip\Desktop\Islombek documents\Noyabr\Презентация\12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2644" y="1548383"/>
            <a:ext cx="1152128" cy="1007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1098228" y="3780631"/>
            <a:ext cx="2232248" cy="353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Шкаф автоматики</a:t>
            </a:r>
            <a:endParaRPr lang="ru-RU" sz="1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17836" y="4103056"/>
            <a:ext cx="2240632" cy="97371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Программируемый контроллер – основное устройство, куда вносятся все задачи исполняемые аппаратурой</a:t>
            </a:r>
            <a:endParaRPr lang="ru-RU" sz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5" name="Picture 7" descr="C:\Users\Vip\Desktop\Islombek documents\Noyabr\Презентация\13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2244" y="5148783"/>
            <a:ext cx="1728192" cy="1004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Прямоугольник 14"/>
          <p:cNvSpPr/>
          <p:nvPr/>
        </p:nvSpPr>
        <p:spPr>
          <a:xfrm>
            <a:off x="954212" y="5904697"/>
            <a:ext cx="2448272" cy="5402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Канальный озонатор</a:t>
            </a:r>
            <a:endParaRPr lang="ru-RU" sz="1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950020" y="6300911"/>
            <a:ext cx="2376264" cy="10801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Встраиваются в систему приточной </a:t>
            </a:r>
            <a:r>
              <a:rPr lang="ru-RU" sz="12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ветиляции</a:t>
            </a: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Изготавливается под заказ для вентиляционных каналов любых форм и размеров</a:t>
            </a:r>
            <a:endParaRPr lang="ru-RU" sz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6" name="Picture 8" descr="C:\Users\Vip\Desktop\Islombek documents\Noyabr\Презентация\images (копия)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6540" y="3154427"/>
            <a:ext cx="698212" cy="698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Прямоугольник 19"/>
          <p:cNvSpPr/>
          <p:nvPr/>
        </p:nvSpPr>
        <p:spPr>
          <a:xfrm>
            <a:off x="5058668" y="3138661"/>
            <a:ext cx="2592288" cy="353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Газоанализатор озона</a:t>
            </a:r>
            <a:endParaRPr lang="ru-RU" sz="1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4698628" y="3564607"/>
            <a:ext cx="2992524" cy="50405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Контроль концентрации озона по ПДК</a:t>
            </a:r>
            <a:endParaRPr lang="ru-RU" sz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7" name="Picture 9" descr="C:\Users\Vip\Desktop\Islombek documents\Noyabr\Презентация\download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9460" y="3060551"/>
            <a:ext cx="1017958" cy="727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Прямоугольник 22"/>
          <p:cNvSpPr/>
          <p:nvPr/>
        </p:nvSpPr>
        <p:spPr>
          <a:xfrm>
            <a:off x="7938988" y="3852639"/>
            <a:ext cx="2592288" cy="353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Датчики движения</a:t>
            </a:r>
            <a:endParaRPr lang="ru-RU" sz="1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Прямоугольник 23"/>
          <p:cNvSpPr/>
          <p:nvPr/>
        </p:nvSpPr>
        <p:spPr>
          <a:xfrm>
            <a:off x="7650956" y="4212679"/>
            <a:ext cx="2880320" cy="97371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При перемещении людей в помещении автоматически отключается озон генераторы и включается предупреждающие сигнал</a:t>
            </a:r>
            <a:endParaRPr lang="ru-RU" sz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8" name="Picture 10" descr="C:\Users\Vip\Desktop\Islombek documents\Noyabr\Презентация\51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5106" y="5292799"/>
            <a:ext cx="1552019" cy="1002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Прямоугольник 25"/>
          <p:cNvSpPr/>
          <p:nvPr/>
        </p:nvSpPr>
        <p:spPr>
          <a:xfrm>
            <a:off x="7620624" y="6326956"/>
            <a:ext cx="2592288" cy="353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Настенный озонатор</a:t>
            </a:r>
            <a:endParaRPr lang="ru-RU" sz="1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Прямоугольник 26"/>
          <p:cNvSpPr/>
          <p:nvPr/>
        </p:nvSpPr>
        <p:spPr>
          <a:xfrm>
            <a:off x="7548593" y="6624735"/>
            <a:ext cx="2880320" cy="75629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Настенные озонаторы для </a:t>
            </a:r>
            <a:r>
              <a:rPr lang="ru-RU" sz="12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стацинаного</a:t>
            </a: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размещения в помещении </a:t>
            </a:r>
            <a:endParaRPr lang="ru-RU" sz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9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22553" y="2101"/>
            <a:ext cx="10670847" cy="970218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7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5500" dirty="0" smtClean="0">
                <a:solidFill>
                  <a:srgbClr val="0070C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  <a:reflection blurRad="6350" stA="55000" endA="300" endPos="45500" dir="5400000" sy="-100000" algn="bl" rotWithShape="0"/>
                </a:effectLst>
                <a:latin typeface="AcademyUzbek" pitchFamily="2" charset="0"/>
              </a:rPr>
              <a:t>OOO “EURO LUX STROY”</a:t>
            </a:r>
            <a:endParaRPr lang="ru-RU" sz="5500" dirty="0">
              <a:solidFill>
                <a:srgbClr val="0070C0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  <a:reflection blurRad="6350" stA="55000" endA="300" endPos="45500" dir="5400000" sy="-100000" algn="bl" rotWithShape="0"/>
              </a:effectLst>
              <a:latin typeface="AcademyUzbek" pitchFamily="2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1276" y="1188343"/>
            <a:ext cx="10693400" cy="1224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000" b="1" dirty="0" smtClean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ПРЕИМУЩЕСТВА ДЕЗИНФЕКЦИИ КОМПЛЕКСОМ </a:t>
            </a:r>
            <a:endParaRPr lang="en-US" sz="3000" b="1" dirty="0" smtClean="0"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3000" b="1" dirty="0" smtClean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OOO “EURO LUX STROY”</a:t>
            </a:r>
            <a:endParaRPr lang="ru-RU" sz="3000" dirty="0"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242244" y="2412479"/>
            <a:ext cx="4032448" cy="6480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Автоматическая работа оборудования, без участия персонала</a:t>
            </a:r>
            <a:endParaRPr lang="ru-RU" sz="16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1170236" y="3276575"/>
            <a:ext cx="4032448" cy="6480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Газ заполняет все пространство проникает в труднодоступные места и простые материалы  </a:t>
            </a:r>
            <a:endParaRPr lang="ru-RU" sz="16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170236" y="4212679"/>
            <a:ext cx="4032448" cy="6480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Одновременная дезинфекция воздуха, предметов и поверхностей  </a:t>
            </a:r>
            <a:endParaRPr lang="ru-RU" sz="16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1314252" y="5220791"/>
            <a:ext cx="4032448" cy="6480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После обработки озона (О</a:t>
            </a:r>
            <a:r>
              <a:rPr lang="ru-RU" sz="1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sz="1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 распадается на кислород </a:t>
            </a:r>
            <a:r>
              <a:rPr lang="ru-RU" sz="16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1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О</a:t>
            </a:r>
            <a:r>
              <a:rPr lang="ru-RU" sz="1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1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 не оставляется следов </a:t>
            </a:r>
            <a:endParaRPr lang="ru-RU" sz="16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 descr="C:\Users\Vip\Desktop\Islombek documents\Noyabr\Презентация\5 (копия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935" y="2365226"/>
            <a:ext cx="695325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Vip\Desktop\Islombek documents\Noyabr\Презентация\5 (копия)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177" y="3276575"/>
            <a:ext cx="600075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Vip\Desktop\Islombek documents\Noyabr\Презентация\5 (копия)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815" y="4221359"/>
            <a:ext cx="579437" cy="61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 descr="C:\Users\Vip\Desktop\Islombek documents\Noyabr\Презентация\5 (копия)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88" y="5200525"/>
            <a:ext cx="576263" cy="62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Прямоугольник 20"/>
          <p:cNvSpPr/>
          <p:nvPr/>
        </p:nvSpPr>
        <p:spPr>
          <a:xfrm>
            <a:off x="6282804" y="2484487"/>
            <a:ext cx="4032448" cy="6480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Ликвидация различных бактерий, грибков, вирусов, цист, спор и РНК вирусов</a:t>
            </a:r>
            <a:endParaRPr lang="ru-RU" sz="16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6354812" y="3420591"/>
            <a:ext cx="4032448" cy="6480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Автоматическая работа оборудования, без участия персонала</a:t>
            </a:r>
            <a:endParaRPr lang="ru-RU" sz="16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6354812" y="4239559"/>
            <a:ext cx="4032448" cy="6480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Автоматическая работа оборудования, без участия персонала</a:t>
            </a:r>
            <a:endParaRPr lang="ru-RU" sz="16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8" name="Picture 6" descr="C:\Users\Vip\Desktop\Islombek documents\Noyabr\Презентация\5 (копия)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9025" y="2460476"/>
            <a:ext cx="585787" cy="6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7" descr="C:\Users\Vip\Desktop\Islombek documents\Noyabr\Презентация\5 (копия)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9025" y="3456495"/>
            <a:ext cx="579437" cy="57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C:\Users\Vip\Desktop\Islombek documents\Noyabr\Презентация\5 (копия)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5375" y="4254326"/>
            <a:ext cx="579437" cy="60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Скругленный прямоугольник 18"/>
          <p:cNvSpPr/>
          <p:nvPr/>
        </p:nvSpPr>
        <p:spPr>
          <a:xfrm>
            <a:off x="484705" y="6660951"/>
            <a:ext cx="3312368" cy="79208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ВРЕМЯ ДЕЗИНФЕКЦИИ НЕ МЕНЕЕ 60 МИНУТ!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Скругленный прямоугольник 30"/>
          <p:cNvSpPr/>
          <p:nvPr/>
        </p:nvSpPr>
        <p:spPr>
          <a:xfrm>
            <a:off x="3834532" y="6660951"/>
            <a:ext cx="3312368" cy="79208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ОБРАБОТКА ПОМЕЩЕНИЙ ТОЛЬКО В ОТСУТСТВИИ 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Скругленный прямоугольник 31"/>
          <p:cNvSpPr/>
          <p:nvPr/>
        </p:nvSpPr>
        <p:spPr>
          <a:xfrm>
            <a:off x="7165008" y="6660951"/>
            <a:ext cx="3366268" cy="78288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ИСПОЛЬЗУЕТСЯ ТОЛЬКО В ЗАКРЫТЫХ ПРОСТРАНСТВАХ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3618508" y="5868863"/>
            <a:ext cx="3600400" cy="73911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35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3500" dirty="0" smtClean="0">
                <a:latin typeface="Times New Roman" pitchFamily="18" charset="0"/>
                <a:cs typeface="Times New Roman" pitchFamily="18" charset="0"/>
              </a:rPr>
              <a:t>ВАЖНО </a:t>
            </a:r>
            <a:r>
              <a:rPr lang="ru-RU" sz="3500" dirty="0" smtClean="0">
                <a:latin typeface="Times New Roman" pitchFamily="18" charset="0"/>
                <a:cs typeface="Times New Roman" pitchFamily="18" charset="0"/>
              </a:rPr>
              <a:t>ЗНАТЬ!</a:t>
            </a:r>
            <a:endParaRPr lang="ru-RU" sz="35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49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22553" y="2101"/>
            <a:ext cx="10670847" cy="970218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7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5500" dirty="0" smtClean="0">
                <a:solidFill>
                  <a:srgbClr val="0070C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  <a:reflection blurRad="6350" stA="55000" endA="300" endPos="45500" dir="5400000" sy="-100000" algn="bl" rotWithShape="0"/>
                </a:effectLst>
                <a:latin typeface="AcademyUzbek" pitchFamily="2" charset="0"/>
              </a:rPr>
              <a:t>OOO “EURO LUX STROY”</a:t>
            </a:r>
            <a:endParaRPr lang="ru-RU" sz="5500" dirty="0">
              <a:solidFill>
                <a:srgbClr val="0070C0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  <a:reflection blurRad="6350" stA="55000" endA="300" endPos="45500" dir="5400000" sy="-100000" algn="bl" rotWithShape="0"/>
              </a:effectLst>
              <a:latin typeface="AcademyUzbek" pitchFamily="2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50155" y="1260351"/>
            <a:ext cx="10068047" cy="936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ЧЕМ МЫ МОЖЕМ БЫТЬ ПОЛЕЗНЫ</a:t>
            </a:r>
            <a:endParaRPr lang="ru-RU" sz="4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602284" y="1980431"/>
            <a:ext cx="7560840" cy="1440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OOO “EURO LUX STROY” </a:t>
            </a:r>
            <a:r>
              <a:rPr lang="ru-RU" sz="22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осуществляет полный цикл работ по проектированию и поставке озон генераторов и дополнительного оборудования, оказание сервисного обслуживания.</a:t>
            </a:r>
            <a:endParaRPr lang="ru-RU" sz="22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38188" y="3348583"/>
            <a:ext cx="9793088" cy="3240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AutoNum type="arabicPeriod"/>
            </a:pP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Помощь в выборе. Проанализируем ситуацию, предложим схему дезинфекции и подберем необходимое оборудование.</a:t>
            </a:r>
          </a:p>
          <a:p>
            <a:pPr marL="457200" indent="-457200">
              <a:buAutoNum type="arabicPeriod"/>
            </a:pP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Производство. В разумные сроки изготовим озонаторы, адаптированные под ваши нужды. </a:t>
            </a:r>
          </a:p>
          <a:p>
            <a:pPr marL="457200" indent="-457200">
              <a:buAutoNum type="arabicPeriod"/>
            </a:pP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Автоматизация. Поможем автоматизировать работу оборудования, чтобы свести к минимуму участие персонала.</a:t>
            </a:r>
          </a:p>
          <a:p>
            <a:pPr marL="457200" indent="-457200">
              <a:buAutoNum type="arabicPeriod"/>
            </a:pP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Сопутствующее оборудование. Подберем и поставим все необходимое сопутствующее оборудование (</a:t>
            </a:r>
            <a:r>
              <a:rPr lang="ru-RU" sz="18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рециркуляторы</a:t>
            </a: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фильтры, датчики, инверторы и т.д.). </a:t>
            </a:r>
          </a:p>
          <a:p>
            <a:endParaRPr lang="ru-RU" sz="1800" b="1" dirty="0">
              <a:latin typeface="Times New Roman" pitchFamily="18" charset="0"/>
              <a:cs typeface="Times New Roman" pitchFamily="18" charset="0"/>
            </a:endParaRPr>
          </a:p>
          <a:p>
            <a:endParaRPr lang="ru-RU" sz="1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8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По всем вопросам обращайтесь по телефону: +998 90 199 99 00  </a:t>
            </a:r>
            <a:endParaRPr lang="ru-RU" sz="18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9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22553" y="2101"/>
            <a:ext cx="10670847" cy="970218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7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5500" dirty="0" smtClean="0">
                <a:solidFill>
                  <a:srgbClr val="0070C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  <a:reflection blurRad="6350" stA="55000" endA="300" endPos="45500" dir="5400000" sy="-100000" algn="bl" rotWithShape="0"/>
                </a:effectLst>
                <a:latin typeface="AcademyUzbek" pitchFamily="2" charset="0"/>
              </a:rPr>
              <a:t>OOO “EURO LUX STROY”</a:t>
            </a:r>
            <a:endParaRPr lang="ru-RU" sz="5500" dirty="0">
              <a:solidFill>
                <a:srgbClr val="0070C0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  <a:reflection blurRad="6350" stA="55000" endA="300" endPos="45500" dir="5400000" sy="-100000" algn="bl" rotWithShape="0"/>
              </a:effectLst>
              <a:latin typeface="AcademyUzbek" pitchFamily="2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38188" y="1044327"/>
            <a:ext cx="9649072" cy="864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7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КАК РАБОТАЕТ КОМПЛЕКС ООО “</a:t>
            </a:r>
            <a:r>
              <a:rPr lang="en-US" sz="27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EURO LUX STROY</a:t>
            </a:r>
            <a:r>
              <a:rPr lang="ru-RU" sz="27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”? </a:t>
            </a:r>
            <a:endParaRPr lang="ru-RU" sz="27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314252" y="1764407"/>
            <a:ext cx="8856984" cy="6480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Озонирование помещении обычно проводят в ночное время.</a:t>
            </a:r>
          </a:p>
          <a:p>
            <a:r>
              <a:rPr lang="ru-RU" sz="1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Время и режим озонирование зависит от объема помещение, производительности озонаторов.</a:t>
            </a:r>
          </a:p>
          <a:p>
            <a:pPr algn="ctr"/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314252" y="2412479"/>
            <a:ext cx="8856984" cy="864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По графику перед началом дезинфекции </a:t>
            </a:r>
            <a:endParaRPr lang="ru-RU" sz="24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15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Перед </a:t>
            </a:r>
            <a:r>
              <a:rPr lang="ru-RU" sz="1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использованием озонатора закройте все окна и двери, проверьте отсутствует людей в </a:t>
            </a:r>
            <a:r>
              <a:rPr lang="ru-RU" sz="15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помещении. По </a:t>
            </a:r>
            <a:r>
              <a:rPr lang="ru-RU" sz="1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возможности отключите приточную </a:t>
            </a:r>
            <a:r>
              <a:rPr lang="ru-RU" sz="15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вентиляцию</a:t>
            </a:r>
            <a:endParaRPr lang="ru-RU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314252" y="3276575"/>
            <a:ext cx="8856984" cy="1224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24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Автономное включение/выключение </a:t>
            </a:r>
            <a:endParaRPr lang="ru-RU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15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Общее включение </a:t>
            </a:r>
            <a:r>
              <a:rPr lang="ru-RU" sz="1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всей системы, рассчитанное по реле времени на 1 час работы</a:t>
            </a:r>
            <a:r>
              <a:rPr lang="ru-RU" sz="15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При определении движения в помещении  датчиками, система автоматически отключится и будет включен сигнал тревоги.</a:t>
            </a:r>
          </a:p>
          <a:p>
            <a:r>
              <a:rPr lang="ru-RU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314252" y="4356695"/>
            <a:ext cx="8856984" cy="11521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ru-RU" sz="24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После </a:t>
            </a:r>
            <a:r>
              <a:rPr lang="ru-RU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завершения работы </a:t>
            </a:r>
            <a:endParaRPr lang="ru-RU" sz="24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1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Если обработка происходит в ночное время, проветривание не требуется.</a:t>
            </a:r>
          </a:p>
          <a:p>
            <a:r>
              <a:rPr lang="ru-RU" sz="1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После окончание работы озонатора, концентрация озона снизится до ПКД за 2-3 часа. Останется только легкий запах свежести безопасный для человека. </a:t>
            </a:r>
          </a:p>
          <a:p>
            <a:pPr algn="just"/>
            <a:endParaRPr lang="ru-RU" sz="15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15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9" name="Picture 3" descr="C:\Users\Vip\Desktop\Islombek documents\Noyabr\Презентация\3 (копия) копия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172" y="5944914"/>
            <a:ext cx="2024063" cy="150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Vip\Desktop\Islombek documents\Noyabr\Презентация\3 (копия) копия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687" y="5846483"/>
            <a:ext cx="2143125" cy="1576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 descr="C:\Users\Vip\Desktop\Islombek documents\Noyabr\Презентация\3 (копия) копия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7311" y="5796855"/>
            <a:ext cx="2193925" cy="163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рямоугольник 10"/>
          <p:cNvSpPr/>
          <p:nvPr/>
        </p:nvSpPr>
        <p:spPr>
          <a:xfrm>
            <a:off x="306140" y="5436815"/>
            <a:ext cx="2304256" cy="5536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До </a:t>
            </a:r>
            <a:r>
              <a:rPr lang="ru-RU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дезинфекции </a:t>
            </a:r>
          </a:p>
          <a:p>
            <a:pPr algn="ctr"/>
            <a:endParaRPr lang="ru-RU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762524" y="5508823"/>
            <a:ext cx="3672408" cy="4816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15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Помещение </a:t>
            </a:r>
            <a:r>
              <a:rPr lang="ru-RU" sz="15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заполненное озонам в течении 1 часа </a:t>
            </a:r>
          </a:p>
          <a:p>
            <a:pPr algn="ctr"/>
            <a:endParaRPr lang="ru-RU" sz="15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7794972" y="5436815"/>
            <a:ext cx="2736304" cy="5536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5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Чистое помещение после распада озона </a:t>
            </a:r>
          </a:p>
          <a:p>
            <a:pPr algn="ctr"/>
            <a:endParaRPr lang="ru-RU" sz="15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102" name="Picture 6" descr="C:\Users\Vip\Desktop\Islombek documents\Noyabr\Презентация\3 (копия) копия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88" y="1725781"/>
            <a:ext cx="512316" cy="470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7" descr="C:\Users\Vip\Desktop\Islombek documents\Noyabr\Презентация\3 (копия) копия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88" y="2556495"/>
            <a:ext cx="525462" cy="556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C:\Users\Vip\Desktop\Islombek documents\Noyabr\Презентация\3 (копия) копия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88" y="3432733"/>
            <a:ext cx="579084" cy="563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5" name="Picture 9" descr="C:\Users\Vip\Desktop\Islombek documents\Noyabr\Презентация\3 (копия) копия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197" y="4524011"/>
            <a:ext cx="504056" cy="55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49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22553" y="2101"/>
            <a:ext cx="10670847" cy="970218"/>
          </a:xfrm>
          <a:prstGeom prst="rect">
            <a:avLst/>
          </a:prstGeom>
          <a:noFill/>
          <a:ln>
            <a:noFill/>
          </a:ln>
        </p:spPr>
        <p:txBody>
          <a:bodyPr vert="horz" lIns="104306" tIns="52153" rIns="104306" bIns="52153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7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5500" dirty="0" smtClean="0">
                <a:solidFill>
                  <a:srgbClr val="0070C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  <a:reflection blurRad="6350" stA="55000" endA="300" endPos="45500" dir="5400000" sy="-100000" algn="bl" rotWithShape="0"/>
                </a:effectLst>
                <a:latin typeface="AcademyUzbek" pitchFamily="2" charset="0"/>
              </a:rPr>
              <a:t>OOO “EURO LUX STROY”</a:t>
            </a:r>
            <a:endParaRPr lang="ru-RU" sz="5500" dirty="0">
              <a:solidFill>
                <a:srgbClr val="0070C0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  <a:reflection blurRad="6350" stA="55000" endA="300" endPos="45500" dir="5400000" sy="-100000" algn="bl" rotWithShape="0"/>
              </a:effectLst>
              <a:latin typeface="AcademyUzbek" pitchFamily="2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34132" y="1260351"/>
            <a:ext cx="10225136" cy="6480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0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3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Где </a:t>
            </a:r>
            <a:r>
              <a:rPr lang="ru-RU" sz="3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и как использовать дезинфекцию озоном </a:t>
            </a:r>
          </a:p>
          <a:p>
            <a:pPr algn="ctr"/>
            <a:endParaRPr lang="ru-RU" sz="3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40035" y="1908423"/>
            <a:ext cx="10670847" cy="547260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386260" y="2124447"/>
            <a:ext cx="40324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8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Городской </a:t>
            </a:r>
            <a:r>
              <a:rPr lang="ru-RU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транспорт, поезда, самолеты</a:t>
            </a:r>
          </a:p>
          <a:p>
            <a:pPr algn="ctr"/>
            <a:endParaRPr lang="ru-RU" sz="18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386260" y="2628503"/>
            <a:ext cx="40324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18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Банки и деньги</a:t>
            </a:r>
            <a:endParaRPr lang="ru-RU" sz="18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1386260" y="3132559"/>
            <a:ext cx="40324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18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Торговые центры, супермаркеты</a:t>
            </a:r>
            <a:endParaRPr lang="ru-RU" sz="18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1386260" y="3636615"/>
            <a:ext cx="40324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Т</a:t>
            </a:r>
            <a:r>
              <a:rPr lang="ru-RU" sz="18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орговые </a:t>
            </a:r>
            <a:r>
              <a:rPr lang="ru-RU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центры, супермаркеты </a:t>
            </a:r>
          </a:p>
        </p:txBody>
      </p:sp>
      <p:sp>
        <p:nvSpPr>
          <p:cNvPr id="27" name="Прямоугольник 26"/>
          <p:cNvSpPr/>
          <p:nvPr/>
        </p:nvSpPr>
        <p:spPr>
          <a:xfrm>
            <a:off x="1458268" y="4140671"/>
            <a:ext cx="40324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Ш</a:t>
            </a:r>
            <a:r>
              <a:rPr lang="ru-RU" sz="18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колы</a:t>
            </a:r>
            <a:r>
              <a:rPr lang="ru-RU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 детсады, офисы</a:t>
            </a:r>
          </a:p>
        </p:txBody>
      </p:sp>
      <p:sp>
        <p:nvSpPr>
          <p:cNvPr id="28" name="Прямоугольник 27"/>
          <p:cNvSpPr/>
          <p:nvPr/>
        </p:nvSpPr>
        <p:spPr>
          <a:xfrm>
            <a:off x="1458268" y="4644727"/>
            <a:ext cx="40324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ru-RU" sz="18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толовые</a:t>
            </a:r>
            <a:r>
              <a:rPr lang="ru-RU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 кафе и рестораны </a:t>
            </a:r>
          </a:p>
        </p:txBody>
      </p:sp>
      <p:sp>
        <p:nvSpPr>
          <p:cNvPr id="29" name="Прямоугольник 28"/>
          <p:cNvSpPr/>
          <p:nvPr/>
        </p:nvSpPr>
        <p:spPr>
          <a:xfrm>
            <a:off x="1458268" y="5148783"/>
            <a:ext cx="40324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ru-RU" sz="18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клады</a:t>
            </a:r>
            <a:r>
              <a:rPr lang="ru-RU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 холодильник</a:t>
            </a:r>
          </a:p>
        </p:txBody>
      </p:sp>
      <p:sp>
        <p:nvSpPr>
          <p:cNvPr id="30" name="Прямоугольник 29"/>
          <p:cNvSpPr/>
          <p:nvPr/>
        </p:nvSpPr>
        <p:spPr>
          <a:xfrm>
            <a:off x="1458268" y="5652839"/>
            <a:ext cx="40324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П</a:t>
            </a:r>
            <a:r>
              <a:rPr lang="ru-RU" sz="18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ищевые </a:t>
            </a:r>
            <a:r>
              <a:rPr lang="ru-RU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и другие производства </a:t>
            </a:r>
          </a:p>
        </p:txBody>
      </p:sp>
      <p:sp>
        <p:nvSpPr>
          <p:cNvPr id="31" name="Прямоугольник 30"/>
          <p:cNvSpPr/>
          <p:nvPr/>
        </p:nvSpPr>
        <p:spPr>
          <a:xfrm>
            <a:off x="1530276" y="6156895"/>
            <a:ext cx="40324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Грузоперевозки</a:t>
            </a:r>
            <a:endParaRPr lang="ru-RU" sz="18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6570836" y="2124447"/>
            <a:ext cx="40324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М</a:t>
            </a:r>
            <a:r>
              <a:rPr lang="ru-RU" sz="18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ежду </a:t>
            </a:r>
            <a:r>
              <a:rPr lang="ru-RU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рейсами</a:t>
            </a:r>
          </a:p>
        </p:txBody>
      </p:sp>
      <p:sp>
        <p:nvSpPr>
          <p:cNvPr id="33" name="Прямоугольник 32"/>
          <p:cNvSpPr/>
          <p:nvPr/>
        </p:nvSpPr>
        <p:spPr>
          <a:xfrm>
            <a:off x="6570836" y="2628503"/>
            <a:ext cx="40324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18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Перед </a:t>
            </a:r>
            <a:r>
              <a:rPr lang="ru-RU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от правкой, по прибытию</a:t>
            </a:r>
          </a:p>
        </p:txBody>
      </p:sp>
      <p:sp>
        <p:nvSpPr>
          <p:cNvPr id="34" name="Прямоугольник 33"/>
          <p:cNvSpPr/>
          <p:nvPr/>
        </p:nvSpPr>
        <p:spPr>
          <a:xfrm>
            <a:off x="6570836" y="3113026"/>
            <a:ext cx="40324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Н</a:t>
            </a:r>
            <a:r>
              <a:rPr lang="ru-RU" sz="18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очное </a:t>
            </a:r>
            <a:r>
              <a:rPr lang="ru-RU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время </a:t>
            </a:r>
          </a:p>
        </p:txBody>
      </p:sp>
      <p:sp>
        <p:nvSpPr>
          <p:cNvPr id="35" name="Прямоугольник 34"/>
          <p:cNvSpPr/>
          <p:nvPr/>
        </p:nvSpPr>
        <p:spPr>
          <a:xfrm>
            <a:off x="6570836" y="3627662"/>
            <a:ext cx="40324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Н</a:t>
            </a:r>
            <a:r>
              <a:rPr lang="ru-RU" sz="18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очное </a:t>
            </a:r>
            <a:r>
              <a:rPr lang="ru-RU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время / технические перерыв </a:t>
            </a:r>
          </a:p>
        </p:txBody>
      </p:sp>
      <p:sp>
        <p:nvSpPr>
          <p:cNvPr id="36" name="Прямоугольник 35"/>
          <p:cNvSpPr/>
          <p:nvPr/>
        </p:nvSpPr>
        <p:spPr>
          <a:xfrm>
            <a:off x="6570836" y="4109020"/>
            <a:ext cx="40324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Н</a:t>
            </a:r>
            <a:r>
              <a:rPr lang="ru-RU" sz="18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очное </a:t>
            </a:r>
            <a:r>
              <a:rPr lang="ru-RU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время / технические перерыв </a:t>
            </a:r>
          </a:p>
        </p:txBody>
      </p:sp>
      <p:sp>
        <p:nvSpPr>
          <p:cNvPr id="37" name="Прямоугольник 36"/>
          <p:cNvSpPr/>
          <p:nvPr/>
        </p:nvSpPr>
        <p:spPr>
          <a:xfrm>
            <a:off x="6570836" y="4645265"/>
            <a:ext cx="40324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Н</a:t>
            </a:r>
            <a:r>
              <a:rPr lang="ru-RU" sz="18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очное </a:t>
            </a:r>
            <a:r>
              <a:rPr lang="ru-RU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время / после уборки </a:t>
            </a:r>
          </a:p>
        </p:txBody>
      </p:sp>
      <p:sp>
        <p:nvSpPr>
          <p:cNvPr id="38" name="Прямоугольник 37"/>
          <p:cNvSpPr/>
          <p:nvPr/>
        </p:nvSpPr>
        <p:spPr>
          <a:xfrm>
            <a:off x="6548004" y="5148783"/>
            <a:ext cx="40324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т</a:t>
            </a:r>
            <a:r>
              <a:rPr lang="ru-RU" sz="18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ехнический </a:t>
            </a:r>
            <a:r>
              <a:rPr lang="ru-RU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перерыв / нерабочие часы </a:t>
            </a:r>
          </a:p>
        </p:txBody>
      </p:sp>
      <p:sp>
        <p:nvSpPr>
          <p:cNvPr id="39" name="Прямоугольник 38"/>
          <p:cNvSpPr/>
          <p:nvPr/>
        </p:nvSpPr>
        <p:spPr>
          <a:xfrm>
            <a:off x="6570836" y="5652839"/>
            <a:ext cx="40324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т</a:t>
            </a:r>
            <a:r>
              <a:rPr lang="ru-RU" sz="18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ехнический </a:t>
            </a:r>
            <a:r>
              <a:rPr lang="ru-RU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перерыв / нерабочие часы </a:t>
            </a:r>
          </a:p>
        </p:txBody>
      </p:sp>
      <p:sp>
        <p:nvSpPr>
          <p:cNvPr id="40" name="Прямоугольник 39"/>
          <p:cNvSpPr/>
          <p:nvPr/>
        </p:nvSpPr>
        <p:spPr>
          <a:xfrm>
            <a:off x="6642844" y="6156895"/>
            <a:ext cx="40324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Перед от правкой, по прибытию</a:t>
            </a:r>
            <a:endParaRPr lang="ru-RU" sz="18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Скругленный прямоугольник 40"/>
          <p:cNvSpPr/>
          <p:nvPr/>
        </p:nvSpPr>
        <p:spPr>
          <a:xfrm>
            <a:off x="494709" y="1980431"/>
            <a:ext cx="864096" cy="4608512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70C0"/>
              </a:solidFill>
            </a:endParaRPr>
          </a:p>
        </p:txBody>
      </p:sp>
      <p:sp>
        <p:nvSpPr>
          <p:cNvPr id="42" name="Скругленный прямоугольник 41"/>
          <p:cNvSpPr/>
          <p:nvPr/>
        </p:nvSpPr>
        <p:spPr>
          <a:xfrm>
            <a:off x="5545522" y="1948780"/>
            <a:ext cx="936104" cy="4608512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ru-RU" sz="3000" b="1" dirty="0" smtClean="0">
                <a:latin typeface="Times New Roman" pitchFamily="18" charset="0"/>
                <a:cs typeface="Times New Roman" pitchFamily="18" charset="0"/>
              </a:rPr>
              <a:t>КОГДА? </a:t>
            </a:r>
            <a:endParaRPr lang="ru-RU" sz="3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5" name="Picture 5" descr="C:\Users\Vip\Desktop\Islombek documents\Noyabr\Презентация\2 (копия) копия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80" y="2124447"/>
            <a:ext cx="441325" cy="338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C:\Users\Vip\Desktop\Islombek documents\Noyabr\Презентация\i (2) (копия) копия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322" y="5940871"/>
            <a:ext cx="663922" cy="663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7" name="Picture 7" descr="C:\Users\Vip\Desktop\Islombek documents\Noyabr\Презентация\2 (копия) копия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80" y="3060551"/>
            <a:ext cx="450850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C:\Users\Vip\Desktop\Islombek documents\Noyabr\Презентация\2 (копия) копия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825" y="3636615"/>
            <a:ext cx="423863" cy="347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9" name="Picture 9" descr="C:\Users\Vip\Desktop\Islombek documents\Noyabr\Презентация\2 (копия) копия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824" y="3996655"/>
            <a:ext cx="423863" cy="51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C:\Users\Vip\Desktop\Islombek documents\Noyabr\Презентация\2 (копия) копия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23" y="4564905"/>
            <a:ext cx="481013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3" name="Picture 13" descr="C:\Users\Vip\Desktop\Islombek documents\Noyabr\Презентация\2 (копия) копия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786" y="5580831"/>
            <a:ext cx="401637" cy="401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5" name="Picture 15" descr="C:\Users\Vip\Desktop\Islombek documents\Noyabr\Презентация\2 (копия) копия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014" y="2061740"/>
            <a:ext cx="450850" cy="46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6" name="Picture 16" descr="C:\Users\Vip\Desktop\Islombek documents\Noyabr\Презентация\i (3) (копия) копия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325" y="5076775"/>
            <a:ext cx="532860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:\Users\vip\Desktop\pngtree-vector-bank-icon-png-image_4276398 копия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19" y="2525290"/>
            <a:ext cx="509817" cy="509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4545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22553" y="2101"/>
            <a:ext cx="10670847" cy="970218"/>
          </a:xfrm>
          <a:prstGeom prst="rect">
            <a:avLst/>
          </a:prstGeom>
          <a:noFill/>
          <a:ln>
            <a:noFill/>
          </a:ln>
        </p:spPr>
        <p:txBody>
          <a:bodyPr vert="horz" lIns="104306" tIns="52153" rIns="104306" bIns="52153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7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5500" dirty="0" smtClean="0">
                <a:solidFill>
                  <a:srgbClr val="0070C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  <a:reflection blurRad="6350" stA="55000" endA="300" endPos="45500" dir="5400000" sy="-100000" algn="bl" rotWithShape="0"/>
                </a:effectLst>
                <a:latin typeface="AcademyUzbek" pitchFamily="2" charset="0"/>
              </a:rPr>
              <a:t>OOO “EURO LUX STROY”</a:t>
            </a:r>
            <a:endParaRPr lang="ru-RU" sz="5500" dirty="0">
              <a:solidFill>
                <a:srgbClr val="0070C0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  <a:reflection blurRad="6350" stA="55000" endA="300" endPos="45500" dir="5400000" sy="-100000" algn="bl" rotWithShape="0"/>
              </a:effectLst>
              <a:latin typeface="AcademyUzbek" pitchFamily="2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22164" y="1548383"/>
            <a:ext cx="10056392" cy="52565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МЕЖДУНАРОДНОЕ ПРИЗНАНИЕ ОЗОНИРОВАНИЯ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 Исследователи 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из Тель-Авивского университета, Университета Бар-</a:t>
            </a:r>
            <a:r>
              <a:rPr lang="ru-RU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Илан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и колледжа и </a:t>
            </a:r>
            <a:r>
              <a:rPr lang="ru-RU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Азриэли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продемонстрировали, что озон можно эффективно использовать для дезинфекции поверхностей, зараженных вирусом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COVID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-19,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SARS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CoV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-2, поскольку газ можно производить относительно и дешево и легко, должна появиться возможность внедрения систем обеззараживания озоном в промышленных масштабах для борьбы со вспышкой 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COVID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-19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 Международная 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организация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International Scientific Committee of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Ozone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Therapy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ISCO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 Мадрид) подтвердила  эффективность применения озона для уничтожения вируса на поверхностях и в воздухе. </a:t>
            </a:r>
            <a:endParaRPr lang="ru-RU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 Управление по санитарному надзору за качеством пищевых продуктов и медикаментов (Министерство здравоохранения и социальных служб США) одобряет озон как 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противомикробный и противовирусный агент.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914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22553" y="2101"/>
            <a:ext cx="10670847" cy="970218"/>
          </a:xfrm>
          <a:prstGeom prst="rect">
            <a:avLst/>
          </a:prstGeom>
          <a:noFill/>
          <a:ln>
            <a:noFill/>
          </a:ln>
        </p:spPr>
        <p:txBody>
          <a:bodyPr vert="horz" lIns="104306" tIns="52153" rIns="104306" bIns="52153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7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5500" dirty="0" smtClean="0">
                <a:solidFill>
                  <a:srgbClr val="0070C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  <a:reflection blurRad="6350" stA="55000" endA="300" endPos="45500" dir="5400000" sy="-100000" algn="bl" rotWithShape="0"/>
                </a:effectLst>
                <a:latin typeface="AcademyUzbek" pitchFamily="2" charset="0"/>
              </a:rPr>
              <a:t>OOO “EURO LUX STROY”</a:t>
            </a:r>
            <a:endParaRPr lang="ru-RU" sz="5500" dirty="0">
              <a:solidFill>
                <a:srgbClr val="0070C0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  <a:reflection blurRad="6350" stA="55000" endA="300" endPos="45500" dir="5400000" sy="-100000" algn="bl" rotWithShape="0"/>
              </a:effectLst>
              <a:latin typeface="AcademyUzbek" pitchFamily="2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22164" y="1404367"/>
            <a:ext cx="10009112" cy="55446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Система </a:t>
            </a: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очистки от запахов, вирусов, бактерий, грибков и микроорганизмов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основана на использовании газа озона, который  благодаря своей высокой окислительной способности применяется как мощный антисептик, по силе с которым не может сравниться ни один антибиотик.</a:t>
            </a:r>
          </a:p>
          <a:p>
            <a:pPr algn="just"/>
            <a:r>
              <a:rPr lang="ru-RU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В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наших устройствах озон вырабатывается благодаря встроенным  озонатором. Его преимущество в том, что по своим дезинфицирующим свойствам он в 300 раз мощнее хлора, при этом после своей работы распадается до атомарного кислорода и не оставляет побочных загрязнений. </a:t>
            </a:r>
          </a:p>
          <a:p>
            <a:pPr algn="just"/>
            <a:r>
              <a:rPr lang="ru-RU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Д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ля очистки вещей и  предметов от загрязнений достаточна поместить их в шкаф и включить режим очистки. Через 15 – 30 минут получаете абсолютно стерильные вещи, без запахов и бактерий.  </a:t>
            </a:r>
          </a:p>
          <a:p>
            <a:pPr algn="just"/>
            <a:r>
              <a:rPr lang="ru-RU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Озон подавляет вирусы, частично разрушая их оболочку. Прекращается процесс размножения и нарушается способность вирусов соединяться с клетками организма. При воздействии на микро организмы, в том числе на дорожки, локально повреждается их клеточная мембрана, сто проводит к гибели или невозможности к размножению.</a:t>
            </a:r>
          </a:p>
          <a:p>
            <a:pPr lvl="0"/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Озонирование </a:t>
            </a:r>
            <a:r>
              <a:rPr lang="ru-RU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проводят в продуктовых магазинах, продовольственных складах, предприятиях общепита, не опасаясь за качество и пользу продуктов.</a:t>
            </a:r>
          </a:p>
          <a:p>
            <a:pPr lvl="0"/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Озон </a:t>
            </a:r>
            <a:r>
              <a:rPr lang="ru-RU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не оставляет после себя запаха и вредных примесей. После обработки озоном в помещении не останется неприятных запахов и вредных химических соединений.</a:t>
            </a:r>
          </a:p>
          <a:p>
            <a:pPr lvl="0"/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Озонирование </a:t>
            </a:r>
            <a:r>
              <a:rPr lang="ru-RU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 одно решение шести задач за одну процедуру обработки пространства озоном: дезодорация, дезинфекция, дезинсекция, дератизация, </a:t>
            </a:r>
            <a:r>
              <a:rPr lang="ru-RU" sz="1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демеркуризация</a:t>
            </a:r>
            <a:r>
              <a:rPr lang="ru-RU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уничтожение спор плесени.</a:t>
            </a:r>
          </a:p>
          <a:p>
            <a:pPr algn="just"/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endParaRPr lang="ru-RU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796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Воздушный поток">
  <a:themeElements>
    <a:clrScheme name="Воздушный поток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Воздушный поток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Воздушный поток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511</TotalTime>
  <Words>745</Words>
  <Application>Microsoft Office PowerPoint</Application>
  <PresentationFormat>Произвольный</PresentationFormat>
  <Paragraphs>113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Воздушный поток</vt:lpstr>
      <vt:lpstr>OOO “EURO LUX STROY”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OOO “EURO LUX STORY”</dc:title>
  <dc:creator>Vip</dc:creator>
  <cp:lastModifiedBy>vip</cp:lastModifiedBy>
  <cp:revision>41</cp:revision>
  <cp:lastPrinted>2021-11-29T06:43:46Z</cp:lastPrinted>
  <dcterms:created xsi:type="dcterms:W3CDTF">2021-11-25T06:15:27Z</dcterms:created>
  <dcterms:modified xsi:type="dcterms:W3CDTF">2021-11-29T06:51:34Z</dcterms:modified>
</cp:coreProperties>
</file>